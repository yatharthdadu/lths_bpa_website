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handoutMasterIdLst>
    <p:handoutMasterId r:id="rId9"/>
  </p:handoutMasterIdLst>
  <p:sldIdLst>
    <p:sldId id="256" r:id="rId5"/>
    <p:sldId id="258" r:id="rId6"/>
    <p:sldId id="257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94660"/>
  </p:normalViewPr>
  <p:slideViewPr>
    <p:cSldViewPr snapToGrid="0">
      <p:cViewPr varScale="1">
        <p:scale>
          <a:sx n="67" d="100"/>
          <a:sy n="67" d="100"/>
        </p:scale>
        <p:origin x="5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92" y="2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08E64E-74F0-4433-C0CB-941EEDF211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25C531-DE78-0690-D294-0BD31894C2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6E48F2-BBFE-4EF2-B15E-4B71D219F643}" type="datetimeFigureOut">
              <a:rPr lang="en-US" smtClean="0"/>
              <a:t>12/18/2022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74290C-AEC1-40EC-4E67-50173B3257F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XXXXXXX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86339-3F32-11C8-7697-AEBE100927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dirty="0"/>
              <a:t>Job 4</a:t>
            </a:r>
          </a:p>
        </p:txBody>
      </p:sp>
    </p:spTree>
    <p:extLst>
      <p:ext uri="{BB962C8B-B14F-4D97-AF65-F5344CB8AC3E}">
        <p14:creationId xmlns:p14="http://schemas.microsoft.com/office/powerpoint/2010/main" val="7302443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3C85C04-88B3-4025-91CE-8EA0EFC47A40}" type="datetimeFigureOut">
              <a:rPr lang="en-US" smtClean="0"/>
              <a:t>12/18/2022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5C5B-1E0D-4DEE-80F5-1E4E50EDF1D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00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5C04-88B3-4025-91CE-8EA0EFC47A40}" type="datetimeFigureOut">
              <a:rPr lang="en-US" smtClean="0"/>
              <a:t>12/18/2022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5C5B-1E0D-4DEE-80F5-1E4E50ED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02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5C04-88B3-4025-91CE-8EA0EFC47A40}" type="datetimeFigureOut">
              <a:rPr lang="en-US" smtClean="0"/>
              <a:t>12/18/2022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5C5B-1E0D-4DEE-80F5-1E4E50EDF1D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746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5C04-88B3-4025-91CE-8EA0EFC47A40}" type="datetimeFigureOut">
              <a:rPr lang="en-US" smtClean="0"/>
              <a:t>12/18/2022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5C5B-1E0D-4DEE-80F5-1E4E50ED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15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5C04-88B3-4025-91CE-8EA0EFC47A40}" type="datetimeFigureOut">
              <a:rPr lang="en-US" smtClean="0"/>
              <a:t>12/18/2022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5C5B-1E0D-4DEE-80F5-1E4E50ED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8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5C04-88B3-4025-91CE-8EA0EFC47A40}" type="datetimeFigureOut">
              <a:rPr lang="en-US" smtClean="0"/>
              <a:t>12/18/2022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5C5B-1E0D-4DEE-80F5-1E4E50ED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37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5C04-88B3-4025-91CE-8EA0EFC47A40}" type="datetimeFigureOut">
              <a:rPr lang="en-US" smtClean="0"/>
              <a:t>12/18/2022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5C5B-1E0D-4DEE-80F5-1E4E50ED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339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5C04-88B3-4025-91CE-8EA0EFC47A40}" type="datetimeFigureOut">
              <a:rPr lang="en-US" smtClean="0"/>
              <a:t>12/18/2022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5C5B-1E0D-4DEE-80F5-1E4E50ED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367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5C04-88B3-4025-91CE-8EA0EFC47A40}" type="datetimeFigureOut">
              <a:rPr lang="en-US" smtClean="0"/>
              <a:t>12/18/2022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5C5B-1E0D-4DEE-80F5-1E4E50EDF1D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438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5C04-88B3-4025-91CE-8EA0EFC47A40}" type="datetimeFigureOut">
              <a:rPr lang="en-US" smtClean="0"/>
              <a:t>12/18/2022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5C5B-1E0D-4DEE-80F5-1E4E50ED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317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5C04-88B3-4025-91CE-8EA0EFC47A40}" type="datetimeFigureOut">
              <a:rPr lang="en-US" smtClean="0"/>
              <a:t>12/18/2022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5C5B-1E0D-4DEE-80F5-1E4E50EDF1D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619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3C85C04-88B3-4025-91CE-8EA0EFC47A40}" type="datetimeFigureOut">
              <a:rPr lang="en-US" smtClean="0"/>
              <a:t>12/18/2022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E4D5C5B-1E0D-4DEE-80F5-1E4E50EDF1D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244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ECF17-8BE7-9F53-7FC9-F00653D82B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latin typeface="+mn-lt"/>
                <a:ea typeface="Calibri" panose="020F0502020204030204" pitchFamily="34" charset="0"/>
              </a:rPr>
              <a:t>Sarasota City Commission</a:t>
            </a:r>
            <a:endParaRPr lang="en-US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51B89A-67B8-81DE-B4DA-17F4AFE909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by Nancy Wells, CEO</a:t>
            </a:r>
          </a:p>
          <a:p>
            <a:r>
              <a:rPr lang="en-US" dirty="0"/>
              <a:t>Digital Solutions</a:t>
            </a:r>
          </a:p>
        </p:txBody>
      </p:sp>
    </p:spTree>
    <p:extLst>
      <p:ext uri="{BB962C8B-B14F-4D97-AF65-F5344CB8AC3E}">
        <p14:creationId xmlns:p14="http://schemas.microsoft.com/office/powerpoint/2010/main" val="4069693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E6C6F-5630-F5A5-E749-FB879AF88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Digital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B1857-3516-587A-DFA4-B99D404A7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ea typeface="Calibri" panose="020F0502020204030204" pitchFamily="34" charset="0"/>
              </a:rPr>
              <a:t>The services provided are: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effectLst/>
                <a:ea typeface="Calibri" panose="020F0502020204030204" pitchFamily="34" charset="0"/>
              </a:rPr>
              <a:t>Systems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effectLst/>
                <a:ea typeface="Calibri" panose="020F0502020204030204" pitchFamily="34" charset="0"/>
              </a:rPr>
              <a:t>Software development and design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effectLst/>
                <a:ea typeface="Calibri" panose="020F0502020204030204" pitchFamily="34" charset="0"/>
              </a:rPr>
              <a:t>Marketing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effectLst/>
                <a:ea typeface="Calibri" panose="020F0502020204030204" pitchFamily="34" charset="0"/>
              </a:rPr>
              <a:t>Training development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effectLst/>
                <a:ea typeface="Calibri" panose="020F0502020204030204" pitchFamily="34" charset="0"/>
              </a:rPr>
              <a:t>Hardware and software sales</a:t>
            </a:r>
            <a:endParaRPr lang="en-US" sz="4000" dirty="0"/>
          </a:p>
        </p:txBody>
      </p:sp>
      <p:pic>
        <p:nvPicPr>
          <p:cNvPr id="5" name="Picture 4" descr="Data concept">
            <a:extLst>
              <a:ext uri="{FF2B5EF4-FFF2-40B4-BE49-F238E27FC236}">
                <a16:creationId xmlns:a16="http://schemas.microsoft.com/office/drawing/2014/main" id="{42C8DA01-0181-202F-A30F-E062613EF89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659" y="2286000"/>
            <a:ext cx="41148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03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15847-E1E9-67B5-2272-2976F85FA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Sarasota?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6C05F-97E4-39B8-F8BD-FC7C7381E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ea typeface="Calibri" panose="020F0502020204030204" pitchFamily="34" charset="0"/>
              </a:rPr>
              <a:t>Metro Population—821,613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ea typeface="Calibri" panose="020F0502020204030204" pitchFamily="34" charset="0"/>
              </a:rPr>
              <a:t>Median Home Price--$387,630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ea typeface="Calibri" panose="020F0502020204030204" pitchFamily="34" charset="0"/>
              </a:rPr>
              <a:t>Average Annual Salary--$48,180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ea typeface="Calibri" panose="020F0502020204030204" pitchFamily="34" charset="0"/>
              </a:rPr>
              <a:t>Average Age—48.9 years</a:t>
            </a:r>
            <a:endParaRPr lang="en-US" sz="4000" dirty="0"/>
          </a:p>
        </p:txBody>
      </p:sp>
      <p:pic>
        <p:nvPicPr>
          <p:cNvPr id="5" name="Picture 4" descr="Question mark on green pastel background">
            <a:extLst>
              <a:ext uri="{FF2B5EF4-FFF2-40B4-BE49-F238E27FC236}">
                <a16:creationId xmlns:a16="http://schemas.microsoft.com/office/drawing/2014/main" id="{24B1ABE0-A128-44CF-0DC9-C16C38A408D1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53"/>
          <a:stretch/>
        </p:blipFill>
        <p:spPr>
          <a:xfrm>
            <a:off x="6588087" y="418639"/>
            <a:ext cx="4572000" cy="576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87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1E783-F02B-4960-DE44-8FE87B341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Sarasota Average Temperatures by Month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530A5B7-0498-2CED-85EF-B67833C68B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3907244"/>
              </p:ext>
            </p:extLst>
          </p:nvPr>
        </p:nvGraphicFramePr>
        <p:xfrm>
          <a:off x="857250" y="1825625"/>
          <a:ext cx="9876852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6454">
                  <a:extLst>
                    <a:ext uri="{9D8B030D-6E8A-4147-A177-3AD203B41FA5}">
                      <a16:colId xmlns:a16="http://schemas.microsoft.com/office/drawing/2014/main" val="193039215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95720868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171352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/ Low(°F)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16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January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72/50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 days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960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February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74/53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 days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106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78/56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 days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575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83/61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897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88/66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525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91/72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257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July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92/73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32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August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92/74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51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September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90/73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970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October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85/66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5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144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November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79/58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353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December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74/53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744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37073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E7A9F71624D446A5C8FF2C98AF9792" ma:contentTypeVersion="17" ma:contentTypeDescription="Create a new document." ma:contentTypeScope="" ma:versionID="c212f9082dc27f108e0e11a74afde11d">
  <xsd:schema xmlns:xsd="http://www.w3.org/2001/XMLSchema" xmlns:xs="http://www.w3.org/2001/XMLSchema" xmlns:p="http://schemas.microsoft.com/office/2006/metadata/properties" xmlns:ns2="039e9714-6d50-452e-b251-2dbe47012caf" xmlns:ns3="95a8a2bb-92c3-4b0c-ab0f-ced3bfbfc2a6" targetNamespace="http://schemas.microsoft.com/office/2006/metadata/properties" ma:root="true" ma:fieldsID="d24d77945c920c7790d2a4f0a957be2a" ns2:_="" ns3:_="">
    <xsd:import namespace="039e9714-6d50-452e-b251-2dbe47012caf"/>
    <xsd:import namespace="95a8a2bb-92c3-4b0c-ab0f-ced3bfbfc2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9e9714-6d50-452e-b251-2dbe47012c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2ac7e9d-6780-422b-b0c8-4b08eebcc1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4" nillable="true" ma:displayName="Notes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a8a2bb-92c3-4b0c-ab0f-ced3bfbfc2a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39e9714-6d50-452e-b251-2dbe47012caf">
      <Terms xmlns="http://schemas.microsoft.com/office/infopath/2007/PartnerControls"/>
    </lcf76f155ced4ddcb4097134ff3c332f>
    <SharedWithUsers xmlns="95a8a2bb-92c3-4b0c-ab0f-ced3bfbfc2a6">
      <UserInfo>
        <DisplayName/>
        <AccountId xsi:nil="true"/>
        <AccountType/>
      </UserInfo>
    </SharedWithUsers>
    <Notes xmlns="039e9714-6d50-452e-b251-2dbe47012caf" xsi:nil="true"/>
  </documentManagement>
</p:properties>
</file>

<file path=customXml/itemProps1.xml><?xml version="1.0" encoding="utf-8"?>
<ds:datastoreItem xmlns:ds="http://schemas.openxmlformats.org/officeDocument/2006/customXml" ds:itemID="{497E877F-93C3-4BC5-A647-810EC9AF0890}"/>
</file>

<file path=customXml/itemProps2.xml><?xml version="1.0" encoding="utf-8"?>
<ds:datastoreItem xmlns:ds="http://schemas.openxmlformats.org/officeDocument/2006/customXml" ds:itemID="{03664095-C56E-4671-80B7-6EDAA6A9AA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1A3DB3-EB79-4B75-AF42-C6D7D6ECED83}">
  <ds:schemaRefs>
    <ds:schemaRef ds:uri="62a5bf00-44d2-4be8-a556-b47716656c64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4cdc8e6e-d52e-438b-9259-4dca8fbbae1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40</TotalTime>
  <Words>115</Words>
  <Application>Microsoft Office PowerPoint</Application>
  <PresentationFormat>Widescreen</PresentationFormat>
  <Paragraphs>55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Tw Cen MT</vt:lpstr>
      <vt:lpstr>Tw Cen MT Condensed</vt:lpstr>
      <vt:lpstr>Wingdings 3</vt:lpstr>
      <vt:lpstr>Integral</vt:lpstr>
      <vt:lpstr>Sarasota City Commission</vt:lpstr>
      <vt:lpstr>About Digital Solutions</vt:lpstr>
      <vt:lpstr>Why Sarasota?</vt:lpstr>
      <vt:lpstr>Sarasota Average Temperatures by Month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Diane Harrington</dc:creator>
  <cp:lastModifiedBy>Diane Harrington</cp:lastModifiedBy>
  <cp:revision>3</cp:revision>
  <cp:lastPrinted>2022-12-18T18:09:26Z</cp:lastPrinted>
  <dcterms:created xsi:type="dcterms:W3CDTF">2022-12-18T17:28:51Z</dcterms:created>
  <dcterms:modified xsi:type="dcterms:W3CDTF">2022-12-18T18:09:31Z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0x01010040E7A9F71624D446A5C8FF2C98AF9792</vt:lpwstr>
  </property>
  <property fmtid="{D5CDD505-2E9C-101B-9397-08002B2CF9AE}" pid="3" name="Order">
    <vt:r8>1479000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