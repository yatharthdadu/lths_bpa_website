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ucida Sans"/>
              <a:buNone/>
              <a:defRPr b="1"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4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" name="Google Shape;19;p2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20" name="Google Shape;20;p2"/>
            <p:cNvSpPr/>
            <p:nvPr/>
          </p:nvSpPr>
          <p:spPr>
            <a:xfrm>
              <a:off x="1687513" y="4832896"/>
              <a:ext cx="7456487" cy="51881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5443" y="5135526"/>
              <a:ext cx="9108557" cy="838200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cxnSp>
          <p:nvCxnSpPr>
            <p:cNvPr id="23" name="Google Shape;23;p2"/>
            <p:cNvCxnSpPr/>
            <p:nvPr/>
          </p:nvCxnSpPr>
          <p:spPr>
            <a:xfrm>
              <a:off x="-3765" y="4880373"/>
              <a:ext cx="9147765" cy="839943"/>
            </a:xfrm>
            <a:prstGeom prst="straightConnector1">
              <a:avLst/>
            </a:prstGeom>
            <a:noFill/>
            <a:ln cap="flat" cmpd="sng" w="12050">
              <a:solidFill>
                <a:srgbClr val="93C5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F0F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bg>
      <p:bgPr>
        <a:blipFill rotWithShape="1">
          <a:blip r:embed="rId2">
            <a:alphaModFix/>
          </a:blip>
          <a:tile algn="tl" flip="none" tx="0" sx="50000" ty="0" sy="50000"/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blipFill rotWithShape="1">
          <a:blip r:embed="rId2">
            <a:alphaModFix/>
          </a:blip>
          <a:tile algn="tl" flip="none" tx="0" sx="50000" ty="0" sy="50000"/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4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4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" name="Google Shape;75;p10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99273" y="5944936"/>
            <a:ext cx="4940624" cy="921076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85717" y="5939011"/>
            <a:ext cx="3690451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83" name="Google Shape;83;p10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10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499273" y="5944936"/>
            <a:ext cx="4940624" cy="921076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85717" y="5939011"/>
            <a:ext cx="3690451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9" name="Google Shape;9;p1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/>
          <p:nvPr/>
        </p:nvSpPr>
        <p:spPr>
          <a:xfrm>
            <a:off x="499273" y="5944936"/>
            <a:ext cx="4940624" cy="921076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485717" y="5939011"/>
            <a:ext cx="3690451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02" name="Google Shape;102;p13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100"/>
              <a:buFont typeface="Lucida Sans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" name="Google Shape;104;p13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05" name="Google Shape;105;p13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Balthazar"/>
              <a:buNone/>
            </a:pPr>
            <a:r>
              <a:rPr b="1" lang="en-US">
                <a:latin typeface="Balthazar"/>
                <a:ea typeface="Balthazar"/>
                <a:cs typeface="Balthazar"/>
                <a:sym typeface="Balthazar"/>
              </a:rPr>
              <a:t>Digital Solutions</a:t>
            </a:r>
            <a:endParaRPr b="1"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20" name="Google Shape;120;p15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64008" rtl="0" algn="r">
              <a:spcBef>
                <a:spcPts val="0"/>
              </a:spcBef>
              <a:spcAft>
                <a:spcPts val="0"/>
              </a:spcAft>
              <a:buSzPts val="1496"/>
              <a:buNone/>
            </a:pPr>
            <a:r>
              <a:rPr b="1" lang="en-US" sz="2200">
                <a:latin typeface="Arial Rounded"/>
                <a:ea typeface="Arial Rounded"/>
                <a:cs typeface="Arial Rounded"/>
                <a:sym typeface="Arial Rounded"/>
              </a:rPr>
              <a:t>New Hire Orientation </a:t>
            </a:r>
            <a:endParaRPr/>
          </a:p>
          <a:p>
            <a:pPr indent="0" lvl="0" marL="0" marR="64008" rtl="0" algn="r">
              <a:spcBef>
                <a:spcPts val="400"/>
              </a:spcBef>
              <a:spcAft>
                <a:spcPts val="0"/>
              </a:spcAft>
              <a:buSzPts val="1496"/>
              <a:buNone/>
            </a:pPr>
            <a:r>
              <a:rPr b="1" lang="en-US" sz="2200">
                <a:latin typeface="Arial Rounded"/>
                <a:ea typeface="Arial Rounded"/>
                <a:cs typeface="Arial Rounded"/>
                <a:sym typeface="Arial Rounded"/>
              </a:rPr>
              <a:t>May 17,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632"/>
              <a:buFont typeface="Courier New"/>
              <a:buChar char="o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About Digital Solutions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632"/>
              <a:buFont typeface="Courier New"/>
              <a:buChar char="o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What you can expect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632"/>
              <a:buFont typeface="Courier New"/>
              <a:buChar char="o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What is expected from you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632"/>
              <a:buFont typeface="Courier New"/>
              <a:buChar char="o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Communication Policy</a:t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 Rounded"/>
              <a:buNone/>
            </a:pPr>
            <a:r>
              <a:rPr b="1" lang="en-US" sz="4800">
                <a:latin typeface="Arial Rounded"/>
                <a:ea typeface="Arial Rounded"/>
                <a:cs typeface="Arial Rounded"/>
                <a:sym typeface="Arial Rounded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632"/>
              <a:buChar char="🞂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DS develops and sells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200"/>
              <a:buChar char="◦"/>
            </a:pPr>
            <a:r>
              <a:rPr b="1" lang="en-US" sz="2200">
                <a:latin typeface="Arial Rounded"/>
                <a:ea typeface="Arial Rounded"/>
                <a:cs typeface="Arial Rounded"/>
                <a:sym typeface="Arial Rounded"/>
              </a:rPr>
              <a:t>Software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200"/>
              <a:buChar char="◦"/>
            </a:pPr>
            <a:r>
              <a:rPr b="1" lang="en-US" sz="2200">
                <a:latin typeface="Arial Rounded"/>
                <a:ea typeface="Arial Rounded"/>
                <a:cs typeface="Arial Rounded"/>
                <a:sym typeface="Arial Rounded"/>
              </a:rPr>
              <a:t>Hardware 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200"/>
              <a:buChar char="◦"/>
            </a:pPr>
            <a:r>
              <a:rPr b="1" lang="en-US" sz="2200">
                <a:latin typeface="Arial Rounded"/>
                <a:ea typeface="Arial Rounded"/>
                <a:cs typeface="Arial Rounded"/>
                <a:sym typeface="Arial Rounded"/>
              </a:rPr>
              <a:t>Services </a:t>
            </a:r>
            <a:endParaRPr/>
          </a:p>
          <a:p>
            <a:pPr indent="-135128" lvl="0" marL="365760" rtl="0" algn="l">
              <a:spcBef>
                <a:spcPts val="400"/>
              </a:spcBef>
              <a:spcAft>
                <a:spcPts val="0"/>
              </a:spcAft>
              <a:buSzPts val="1904"/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632"/>
              <a:buChar char="🞂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Management includes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000"/>
              <a:buChar char="◦"/>
            </a:pPr>
            <a:r>
              <a:rPr b="1" lang="en-US" sz="2000">
                <a:latin typeface="Arial Rounded"/>
                <a:ea typeface="Arial Rounded"/>
                <a:cs typeface="Arial Rounded"/>
                <a:sym typeface="Arial Rounded"/>
              </a:rPr>
              <a:t>Chief Executive Officer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000"/>
              <a:buChar char="◦"/>
            </a:pPr>
            <a:r>
              <a:rPr b="1" lang="en-US" sz="2000">
                <a:latin typeface="Arial Rounded"/>
                <a:ea typeface="Arial Rounded"/>
                <a:cs typeface="Arial Rounded"/>
                <a:sym typeface="Arial Rounded"/>
              </a:rPr>
              <a:t>Financial Services Department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000"/>
              <a:buChar char="◦"/>
            </a:pPr>
            <a:r>
              <a:rPr b="1" lang="en-US" sz="2000">
                <a:latin typeface="Arial Rounded"/>
                <a:ea typeface="Arial Rounded"/>
                <a:cs typeface="Arial Rounded"/>
                <a:sym typeface="Arial Rounded"/>
              </a:rPr>
              <a:t>Information Technology Department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000"/>
              <a:buChar char="◦"/>
            </a:pPr>
            <a:r>
              <a:rPr b="1" lang="en-US" sz="2000">
                <a:latin typeface="Arial Rounded"/>
                <a:ea typeface="Arial Rounded"/>
                <a:cs typeface="Arial Rounded"/>
                <a:sym typeface="Arial Rounded"/>
              </a:rPr>
              <a:t>Human Resources Department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000"/>
              <a:buChar char="◦"/>
            </a:pPr>
            <a:r>
              <a:rPr b="1" lang="en-US" sz="2000">
                <a:latin typeface="Arial Rounded"/>
                <a:ea typeface="Arial Rounded"/>
                <a:cs typeface="Arial Rounded"/>
                <a:sym typeface="Arial Rounded"/>
              </a:rPr>
              <a:t>Administrative Support Department</a:t>
            </a:r>
            <a:endParaRPr/>
          </a:p>
        </p:txBody>
      </p:sp>
      <p:sp>
        <p:nvSpPr>
          <p:cNvPr id="133" name="Google Shape;13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 Rounded"/>
              <a:buNone/>
            </a:pPr>
            <a:r>
              <a:rPr b="1" lang="en-US" sz="4800">
                <a:latin typeface="Arial Rounded"/>
                <a:ea typeface="Arial Rounded"/>
                <a:cs typeface="Arial Rounded"/>
                <a:sym typeface="Arial Rounded"/>
              </a:rPr>
              <a:t>About Digital Solutions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ct val="68000"/>
              <a:buChar char="🞂"/>
            </a:pPr>
            <a:r>
              <a:rPr b="1" lang="en-US" sz="2600">
                <a:latin typeface="Arial Rounded"/>
                <a:ea typeface="Arial Rounded"/>
                <a:cs typeface="Arial Rounded"/>
                <a:sym typeface="Arial Rounded"/>
              </a:rPr>
              <a:t>Exciting, Challenging, and Rewarding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ct val="68000"/>
              <a:buChar char="🞂"/>
            </a:pPr>
            <a:r>
              <a:rPr b="1" lang="en-US" sz="2600">
                <a:latin typeface="Arial Rounded"/>
                <a:ea typeface="Arial Rounded"/>
                <a:cs typeface="Arial Rounded"/>
                <a:sym typeface="Arial Rounded"/>
              </a:rPr>
              <a:t>Selected based on skill, training, ability, attitude, and character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ct val="68000"/>
              <a:buChar char="🞂"/>
            </a:pPr>
            <a:r>
              <a:rPr b="1" lang="en-US" sz="2600">
                <a:latin typeface="Arial Rounded"/>
                <a:ea typeface="Arial Rounded"/>
                <a:cs typeface="Arial Rounded"/>
                <a:sym typeface="Arial Rounded"/>
              </a:rPr>
              <a:t>Compensate based on effort and contributions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ct val="68000"/>
              <a:buChar char="🞂"/>
            </a:pPr>
            <a:r>
              <a:rPr b="1" lang="en-US" sz="2600">
                <a:latin typeface="Arial Rounded"/>
                <a:ea typeface="Arial Rounded"/>
                <a:cs typeface="Arial Rounded"/>
                <a:sym typeface="Arial Rounded"/>
              </a:rPr>
              <a:t>Review pay, associate benefits and working conditions regularly </a:t>
            </a:r>
            <a:endParaRPr/>
          </a:p>
          <a:p>
            <a:pPr indent="-144196" lvl="0" marL="365760" rtl="0" algn="l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ct val="68000"/>
              <a:buChar char="🞂"/>
            </a:pPr>
            <a:r>
              <a:rPr b="1" lang="en-US" sz="2600">
                <a:latin typeface="Arial Rounded"/>
                <a:ea typeface="Arial Rounded"/>
                <a:cs typeface="Arial Rounded"/>
                <a:sym typeface="Arial Rounded"/>
              </a:rPr>
              <a:t>Provide health and welfare benefits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ct val="68000"/>
              <a:buChar char="🞂"/>
            </a:pPr>
            <a:r>
              <a:rPr b="1" lang="en-US" sz="2600">
                <a:latin typeface="Arial Rounded"/>
                <a:ea typeface="Arial Rounded"/>
                <a:cs typeface="Arial Rounded"/>
                <a:sym typeface="Arial Rounded"/>
              </a:rPr>
              <a:t>Open communication on all levels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ct val="68000"/>
              <a:buChar char="🞂"/>
            </a:pPr>
            <a:r>
              <a:rPr b="1" lang="en-US" sz="2600">
                <a:latin typeface="Arial Rounded"/>
                <a:ea typeface="Arial Rounded"/>
                <a:cs typeface="Arial Rounded"/>
                <a:sym typeface="Arial Rounded"/>
              </a:rPr>
              <a:t>Promotions from within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ct val="68000"/>
              <a:buChar char="🞂"/>
            </a:pPr>
            <a:r>
              <a:rPr b="1" lang="en-US" sz="2600">
                <a:latin typeface="Arial Rounded"/>
                <a:ea typeface="Arial Rounded"/>
                <a:cs typeface="Arial Rounded"/>
                <a:sym typeface="Arial Rounded"/>
              </a:rPr>
              <a:t>Promote DS vision, mission, and goals</a:t>
            </a:r>
            <a:endParaRPr/>
          </a:p>
          <a:p>
            <a:pPr indent="-144196" lvl="0" marL="365760" rtl="0" algn="l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 Rounded"/>
              <a:buNone/>
            </a:pPr>
            <a:r>
              <a:rPr b="1" lang="en-US" sz="4800">
                <a:latin typeface="Arial Rounded"/>
                <a:ea typeface="Arial Rounded"/>
                <a:cs typeface="Arial Rounded"/>
                <a:sym typeface="Arial Rounded"/>
              </a:rPr>
              <a:t>What You Can Expect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632"/>
              <a:buFont typeface="Courier New"/>
              <a:buChar char="o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Responsibilities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632"/>
              <a:buFont typeface="Courier New"/>
              <a:buChar char="o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Cooperation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632"/>
              <a:buFont typeface="Courier New"/>
              <a:buChar char="o"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Professional Development</a:t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 Rounded"/>
              <a:buNone/>
            </a:pPr>
            <a:r>
              <a:rPr b="1" lang="en-US" sz="4800">
                <a:latin typeface="Arial Rounded"/>
                <a:ea typeface="Arial Rounded"/>
                <a:cs typeface="Arial Rounded"/>
                <a:sym typeface="Arial Rounded"/>
              </a:rPr>
              <a:t>What Is Expected From You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Font typeface="Courier New"/>
              <a:buChar char="o"/>
            </a:pPr>
            <a:r>
              <a:rPr b="1" lang="en-US">
                <a:latin typeface="Arial Rounded"/>
                <a:ea typeface="Arial Rounded"/>
                <a:cs typeface="Arial Rounded"/>
                <a:sym typeface="Arial Rounded"/>
              </a:rPr>
              <a:t>Working conditions and relationships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Font typeface="Courier New"/>
              <a:buChar char="o"/>
            </a:pPr>
            <a:r>
              <a:rPr b="1" lang="en-US">
                <a:latin typeface="Arial Rounded"/>
                <a:ea typeface="Arial Rounded"/>
                <a:cs typeface="Arial Rounded"/>
                <a:sym typeface="Arial Rounded"/>
              </a:rPr>
              <a:t>Resolution for disagreement 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Font typeface="Courier New"/>
              <a:buChar char="o"/>
            </a:pPr>
            <a:r>
              <a:rPr b="1" lang="en-US">
                <a:latin typeface="Arial Rounded"/>
                <a:ea typeface="Arial Rounded"/>
                <a:cs typeface="Arial Rounded"/>
                <a:sym typeface="Arial Rounded"/>
              </a:rPr>
              <a:t>Methods of communications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Font typeface="Courier New"/>
              <a:buChar char="o"/>
            </a:pPr>
            <a:r>
              <a:rPr b="1" lang="en-US">
                <a:latin typeface="Arial Rounded"/>
                <a:ea typeface="Arial Rounded"/>
                <a:cs typeface="Arial Rounded"/>
                <a:sym typeface="Arial Rounded"/>
              </a:rPr>
              <a:t>Up-to-date information</a:t>
            </a:r>
            <a:endParaRPr/>
          </a:p>
          <a:p>
            <a:pPr indent="0" lvl="0" marL="109728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 Rounded"/>
              <a:buNone/>
            </a:pPr>
            <a:r>
              <a:rPr b="1" lang="en-US" sz="4800">
                <a:latin typeface="Arial Rounded"/>
                <a:ea typeface="Arial Rounded"/>
                <a:cs typeface="Arial Rounded"/>
                <a:sym typeface="Arial Rounded"/>
              </a:rPr>
              <a:t>Communication Policy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